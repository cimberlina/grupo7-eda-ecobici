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2" r:id="rId4"/>
    <p:sldId id="258" r:id="rId5"/>
    <p:sldId id="259" r:id="rId6"/>
    <p:sldId id="260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7216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1144-5959-0284-6E62-4E5539B45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51189E-D5E0-7D61-8131-05FDF9E6D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D735A1-A9BF-6049-A1F5-AE3BFC940A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76E27-EC82-8CD3-C75F-EAFE34C49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157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PRÁCTICO FINAL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de Datos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EcoBici CABA 2024 · Del dato crudo al dataset listo para modelar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 de Especialización en Inteligencia Artificial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FIUBA · Cohorte 1B 2026 · Grupo 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Carmen María Rodríguez Pastrano  ·  Federico Agustín Fernández  ·  Claudio Marcelo Imberlina  ·  María Teresa Mallaupoma León  ·  Matías Guido Bovio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8229600" cy="0"/>
          </a:xfrm>
          <a:prstGeom prst="line">
            <a:avLst/>
          </a:prstGeom>
          <a:noFill/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 ·  CIFRAS CLAVE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3,56 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4864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VIAJES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6596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17 variables · año 2024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oficial GCBA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38328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8328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0060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multiclase: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· Mediano · Largo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1792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21792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3524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· Descripción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· Calidad del dato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7A86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github.com/cimberlina/grupo7-eda-ecobici   ·   Presentación · 22/04/2026</a:t>
            </a:r>
            <a:endParaRPr lang="en-US" sz="850" dirty="0"/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446E4CB9-D61A-4B81-A0CD-5F5A7C465FF4}"/>
              </a:ext>
            </a:extLst>
          </p:cNvPr>
          <p:cNvGrpSpPr/>
          <p:nvPr/>
        </p:nvGrpSpPr>
        <p:grpSpPr>
          <a:xfrm>
            <a:off x="5615597" y="1130300"/>
            <a:ext cx="1585301" cy="1396174"/>
            <a:chOff x="5615598" y="1452939"/>
            <a:chExt cx="1073533" cy="1073533"/>
          </a:xfrm>
        </p:grpSpPr>
        <p:pic>
          <p:nvPicPr>
            <p:cNvPr id="25" name="Imagen 24">
              <a:extLst>
                <a:ext uri="{FF2B5EF4-FFF2-40B4-BE49-F238E27FC236}">
                  <a16:creationId xmlns:a16="http://schemas.microsoft.com/office/drawing/2014/main" id="{1AD7083D-39EE-4F28-B2C4-31929D212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15598" y="1452939"/>
              <a:ext cx="1073533" cy="1073533"/>
            </a:xfrm>
            <a:prstGeom prst="rect">
              <a:avLst/>
            </a:prstGeom>
          </p:spPr>
        </p:pic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B12BDD17-B896-47B5-B8CC-3A0DBB285C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V="1">
              <a:off x="5784850" y="1869190"/>
              <a:ext cx="519028" cy="8466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DE DATOS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 y diagnóstico de calidad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PATRONES TEMPORALES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vespertino único (17–19 h) · caída fin de semana · estacionalidad anual</a:t>
            </a:r>
            <a:endParaRPr lang="en-US" sz="1000" dirty="0"/>
          </a:p>
        </p:txBody>
      </p:sp>
      <p:pic>
        <p:nvPicPr>
          <p:cNvPr id="8" name="Image 0" descr="/sessions/sharp-quirky-brown/mnt/TP Final AdD 2026/TP Final AdD/images_tutorial/fig_panel_temporal_hora_dia_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44752"/>
            <a:ext cx="41148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15 ESTACIONES · ORIGEN / DESTINO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70916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Pareto en microcentro · simetría origen-destino</a:t>
            </a:r>
            <a:endParaRPr lang="en-US" sz="1000" dirty="0"/>
          </a:p>
        </p:txBody>
      </p:sp>
      <p:pic>
        <p:nvPicPr>
          <p:cNvPr id="11" name="Image 1" descr="/sessions/sharp-quirky-brown/mnt/TP Final AdD 2026/TP Final AdD/images_tutorial/fig_top15_estaciones_origen_desti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444752"/>
            <a:ext cx="4114800" cy="1371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0040" y="29260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DISTRIBUCIÓN DE duracion_minutos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32004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Asimetría positiva · mediana ≈ 16 min · justifica discretización en 3 clases</a:t>
            </a:r>
            <a:endParaRPr lang="en-US" sz="1000" dirty="0"/>
          </a:p>
        </p:txBody>
      </p:sp>
      <p:pic>
        <p:nvPicPr>
          <p:cNvPr id="14" name="Image 2" descr="/sessions/sharp-quirky-brown/mnt/TP Final AdD 2026/TP Final AdD/images_tutorial/fig_histograma_duracion_minutos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456432"/>
            <a:ext cx="4114800" cy="1371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09160" y="29260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FALTANTES · MCAR / MAR / MNAR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470916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Tipificación por variable · género (MNAR) · fecha_destino (MAR)</a:t>
            </a:r>
            <a:endParaRPr lang="en-US" sz="1000" dirty="0"/>
          </a:p>
        </p:txBody>
      </p:sp>
      <p:pic>
        <p:nvPicPr>
          <p:cNvPr id="17" name="Image 3" descr="/sessions/sharp-quirky-brown/mnt/TP Final AdD 2026/TP Final AdD/images_tutorial/fig_faltantes_MCAR_MAR_MNAR_compos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3456432"/>
            <a:ext cx="4114800" cy="13716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3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Los cuatro hallazgos justifican replantear el problema como clasificación multiclase · y determinan el pipeline completo · limpieza · feature engineering · reducción de dimensionalidad.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5E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DE52D4-D972-7712-52D2-F09F714B1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8FE15FC-AE71-9AA0-B554-984CA3477425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05B7000-ABD4-952F-D408-405AE20049E5}"/>
              </a:ext>
            </a:extLst>
          </p:cNvPr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258740D-41B1-3F45-8AC1-AD03ED4C575A}"/>
              </a:ext>
            </a:extLst>
          </p:cNvPr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600" normalizeH="0" baseline="0" noProof="0" dirty="0">
                <a:ln>
                  <a:noFill/>
                </a:ln>
                <a:solidFill>
                  <a:srgbClr val="E67E22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DE DATOS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AD67705-5BA6-184C-843E-C703A58C415B}"/>
              </a:ext>
            </a:extLst>
          </p:cNvPr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Principales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r>
              <a:rPr kumimoji="0" lang="en-US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aracterística</a:t>
            </a: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 de Dataset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161C479-5E49-47CB-7F3A-ECF1D3DDF211}"/>
              </a:ext>
            </a:extLst>
          </p:cNvPr>
          <p:cNvSpPr/>
          <p:nvPr/>
        </p:nvSpPr>
        <p:spPr>
          <a:xfrm>
            <a:off x="243838" y="1001097"/>
            <a:ext cx="2948432" cy="1187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s-E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cubre principalmente el corredor céntrico y los barrios de mayor densidad (Palermo, Recoleta, Etc.). La cobertura disminuye hacia los límites de la ciudad.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las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recorridas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2km (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acorde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urbanos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Descentralizacion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matriz del Top 10 captura el 1.86% de la demanda total del sistema.</a:t>
            </a: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5D82CCC-95CC-D901-5F4C-BBEB03FC6136}"/>
              </a:ext>
            </a:extLst>
          </p:cNvPr>
          <p:cNvSpPr/>
          <p:nvPr/>
        </p:nvSpPr>
        <p:spPr>
          <a:xfrm>
            <a:off x="243838" y="809244"/>
            <a:ext cx="61112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0" cap="none" spc="400" normalizeH="0" baseline="0" noProof="0" dirty="0">
                <a:ln>
                  <a:noFill/>
                </a:ln>
                <a:solidFill>
                  <a:srgbClr val="E67E22"/>
                </a:solidFill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DISTRIBUCIÓ</a:t>
            </a:r>
            <a:r>
              <a:rPr lang="en-US" sz="700" b="1" kern="0" spc="400" dirty="0">
                <a:solidFill>
                  <a:srgbClr val="E67E2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 DE ESTACIONES – MATRIZ ORIGEN DESTINO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EFE964D2-6E67-B0B7-414B-8B91B40BFE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956" y="1022502"/>
            <a:ext cx="2227220" cy="2109692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1DC6B7C1-3574-3BA0-54CC-D5D43D209A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176" y="777240"/>
            <a:ext cx="3172339" cy="2361103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D182477E-D500-91E5-E6A8-E34E3F0A69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524" y="2112377"/>
            <a:ext cx="2948432" cy="1019817"/>
          </a:xfrm>
          <a:prstGeom prst="rect">
            <a:avLst/>
          </a:prstGeom>
        </p:spPr>
      </p:pic>
      <p:sp>
        <p:nvSpPr>
          <p:cNvPr id="26" name="Text 8">
            <a:extLst>
              <a:ext uri="{FF2B5EF4-FFF2-40B4-BE49-F238E27FC236}">
                <a16:creationId xmlns:a16="http://schemas.microsoft.com/office/drawing/2014/main" id="{7387B89E-551B-E587-CBEA-6D539E380C0D}"/>
              </a:ext>
            </a:extLst>
          </p:cNvPr>
          <p:cNvSpPr/>
          <p:nvPr/>
        </p:nvSpPr>
        <p:spPr>
          <a:xfrm>
            <a:off x="243837" y="3144001"/>
            <a:ext cx="61112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b="1" kern="0" spc="400" dirty="0">
                <a:solidFill>
                  <a:srgbClr val="E67E2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DURACIÓN DE VIAJES-TARFARIO VIGENTE 2024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330F680F-BEC8-A3F9-3E4A-31724441CA61}"/>
              </a:ext>
            </a:extLst>
          </p:cNvPr>
          <p:cNvSpPr/>
          <p:nvPr/>
        </p:nvSpPr>
        <p:spPr>
          <a:xfrm>
            <a:off x="243838" y="3372601"/>
            <a:ext cx="4156282" cy="1187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s-AR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duración con asimetría positivo.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s-AR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viajes día de semana &gt; 30min y los viajes de fin de semana se abonaban.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s-AR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cantidad de viajes en días hábiles pero de menor recorrido que los del fin de semana.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s-AR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dispersión en la duración de los viajes en horas de la mañana 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s-AR" sz="1000" i="1" dirty="0">
              <a:solidFill>
                <a:srgbClr val="2C3E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s-AR" sz="1000" i="1" dirty="0">
              <a:solidFill>
                <a:srgbClr val="2C3E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s-ES" sz="1000" i="1" dirty="0">
              <a:solidFill>
                <a:srgbClr val="2C3E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56DF4123-1E93-D9D1-00B9-18FD77F10C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2518" y="3170347"/>
            <a:ext cx="4731482" cy="1973154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92E8760D-F521-4129-043C-CFF35781AB6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50000"/>
          <a:stretch>
            <a:fillRect/>
          </a:stretch>
        </p:blipFill>
        <p:spPr>
          <a:xfrm>
            <a:off x="5383028" y="4672177"/>
            <a:ext cx="1300910" cy="208065"/>
          </a:xfrm>
          <a:prstGeom prst="rect">
            <a:avLst/>
          </a:prstGeom>
        </p:spPr>
      </p:pic>
      <p:pic>
        <p:nvPicPr>
          <p:cNvPr id="32" name="Imagen 31">
            <a:extLst>
              <a:ext uri="{FF2B5EF4-FFF2-40B4-BE49-F238E27FC236}">
                <a16:creationId xmlns:a16="http://schemas.microsoft.com/office/drawing/2014/main" id="{C9C9C296-82EB-414E-0F51-A9E2E98B0EE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6514"/>
          <a:stretch>
            <a:fillRect/>
          </a:stretch>
        </p:blipFill>
        <p:spPr>
          <a:xfrm>
            <a:off x="7517419" y="4743568"/>
            <a:ext cx="1431001" cy="153281"/>
          </a:xfrm>
          <a:prstGeom prst="rect">
            <a:avLst/>
          </a:prstGeom>
        </p:spPr>
      </p:pic>
      <p:pic>
        <p:nvPicPr>
          <p:cNvPr id="34" name="Imagen 33">
            <a:extLst>
              <a:ext uri="{FF2B5EF4-FFF2-40B4-BE49-F238E27FC236}">
                <a16:creationId xmlns:a16="http://schemas.microsoft.com/office/drawing/2014/main" id="{7625F3CE-388C-8E5A-2644-B88343DDDF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" y="4164478"/>
            <a:ext cx="2328990" cy="979023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701352A9-A318-636C-A4DA-816C2DB433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2665" y="4138255"/>
            <a:ext cx="905001" cy="252447"/>
          </a:xfrm>
          <a:prstGeom prst="rect">
            <a:avLst/>
          </a:prstGeom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19D64E19-B9DA-4580-BD78-26B025F87D3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4750" y="4175213"/>
            <a:ext cx="1717767" cy="968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039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PREPROCESAMIENTO · CONSIGNA 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Preprocesamiento</a:t>
            </a: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 </a:t>
            </a:r>
            <a:r>
              <a:rPr lang="en-US" sz="22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</a:t>
            </a: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ML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834390"/>
            <a:ext cx="8412480" cy="398907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960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300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168838"/>
            <a:ext cx="7680960" cy="16543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El CSV tenía problemas estructurales: fila de título extra y </a:t>
            </a:r>
            <a:r>
              <a:rPr lang="es-AR" sz="1200" dirty="0" err="1"/>
              <a:t>headers</a:t>
            </a:r>
            <a:r>
              <a:rPr lang="es-AR" sz="1200" dirty="0"/>
              <a:t> con punto y coma. Resolvimos manualmente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Para </a:t>
            </a:r>
            <a:r>
              <a:rPr lang="es-AR" sz="1200" dirty="0" err="1"/>
              <a:t>outliers</a:t>
            </a:r>
            <a:r>
              <a:rPr lang="es-AR" sz="1200" dirty="0"/>
              <a:t> de duración usamos un </a:t>
            </a:r>
            <a:r>
              <a:rPr lang="es-AR" sz="1200" b="1" dirty="0"/>
              <a:t>criterio de dominio</a:t>
            </a:r>
            <a:r>
              <a:rPr lang="es-AR" sz="1200" dirty="0"/>
              <a:t>: descartamos viajes &lt; 30 segundos y &gt; 24 horas. Eliminó 8% de los registros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Los nulos en genero (0.34%) se clasificaron como </a:t>
            </a:r>
            <a:r>
              <a:rPr lang="es-AR" sz="1200" b="1" dirty="0"/>
              <a:t>MNAR</a:t>
            </a:r>
            <a:r>
              <a:rPr lang="es-AR" sz="1200" dirty="0"/>
              <a:t>: usuarios que eligieron no declarar su género. Imputar hubiera introducido sesgo → se eliminaron las filas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Split </a:t>
            </a:r>
            <a:r>
              <a:rPr lang="es-AR" sz="1200" b="1" dirty="0"/>
              <a:t>70/30 con </a:t>
            </a:r>
            <a:r>
              <a:rPr lang="es-AR" sz="1200" b="1" dirty="0" err="1"/>
              <a:t>stratify</a:t>
            </a:r>
            <a:r>
              <a:rPr lang="es-AR" sz="1200" b="1" dirty="0"/>
              <a:t>=y</a:t>
            </a:r>
            <a:r>
              <a:rPr lang="es-AR" sz="1200" dirty="0"/>
              <a:t> para garantizar la misma proporción de clases en </a:t>
            </a:r>
            <a:r>
              <a:rPr lang="es-AR" sz="1200" dirty="0" err="1"/>
              <a:t>train</a:t>
            </a:r>
            <a:r>
              <a:rPr lang="es-AR" sz="1200" dirty="0"/>
              <a:t> y test</a:t>
            </a:r>
          </a:p>
          <a:p>
            <a:pPr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Dataset limpio y splitado listo para ingeniería de features.</a:t>
            </a:r>
            <a:endParaRPr lang="en-US" sz="9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B577262-B372-8843-DE3C-6A494D213094}"/>
              </a:ext>
            </a:extLst>
          </p:cNvPr>
          <p:cNvSpPr/>
          <p:nvPr/>
        </p:nvSpPr>
        <p:spPr>
          <a:xfrm>
            <a:off x="731520" y="252603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Machine Learning</a:t>
            </a:r>
            <a:endParaRPr lang="en-US" sz="13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FA23F4A1-D290-5F79-1EC2-C9F4DB5342B7}"/>
              </a:ext>
            </a:extLst>
          </p:cNvPr>
          <p:cNvSpPr/>
          <p:nvPr/>
        </p:nvSpPr>
        <p:spPr>
          <a:xfrm>
            <a:off x="768096" y="2781908"/>
            <a:ext cx="7680960" cy="16543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7C6ECD7D-E07B-7E12-0B8E-C8DEA457E1BE}"/>
              </a:ext>
            </a:extLst>
          </p:cNvPr>
          <p:cNvSpPr/>
          <p:nvPr/>
        </p:nvSpPr>
        <p:spPr>
          <a:xfrm>
            <a:off x="768096" y="2951918"/>
            <a:ext cx="5015230" cy="16543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Planteamos un problema de </a:t>
            </a:r>
            <a:r>
              <a:rPr lang="es-AR" sz="1200" b="1" dirty="0"/>
              <a:t>clasificación multiclase supervisada</a:t>
            </a:r>
            <a:r>
              <a:rPr lang="es-AR" sz="1200" dirty="0"/>
              <a:t>: predecir la categoría de duración de un viaje antes de que comience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Tiene sentido operativo real: el sistema puede anticipar si el viaje cae dentro del período gratuito (≤ 30 min)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La variable target es </a:t>
            </a:r>
            <a:r>
              <a:rPr lang="es-AR" sz="1200" b="1" dirty="0" err="1"/>
              <a:t>tipo_viaje</a:t>
            </a:r>
            <a:r>
              <a:rPr lang="es-AR" sz="1200" dirty="0"/>
              <a:t>, creada discretizando la duración en tres clases: </a:t>
            </a:r>
            <a:r>
              <a:rPr lang="es-AR" sz="1200" b="1" dirty="0"/>
              <a:t>Corto</a:t>
            </a:r>
            <a:r>
              <a:rPr lang="es-AR" sz="1200" dirty="0"/>
              <a:t> (&lt; 10 min), </a:t>
            </a:r>
            <a:r>
              <a:rPr lang="es-AR" sz="1200" b="1" dirty="0"/>
              <a:t>Medio</a:t>
            </a:r>
            <a:r>
              <a:rPr lang="es-AR" sz="1200" dirty="0"/>
              <a:t> (10–30 min) y </a:t>
            </a:r>
            <a:r>
              <a:rPr lang="es-AR" sz="1200" b="1" dirty="0"/>
              <a:t>Largo</a:t>
            </a:r>
            <a:r>
              <a:rPr lang="es-AR" sz="1200" dirty="0"/>
              <a:t> (&gt; 30 min)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Elegimos clasificación sobre regresión porque la distribución de duración es fuertemente asimétrica — predecir la categoría es más robusto y más útil en la práctica y nos da fácil interpretabilidad.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Este problema se puede utilizar para Stock de bicis por Estacion, Sistema de </a:t>
            </a:r>
            <a:r>
              <a:rPr lang="es-AR" sz="1200" dirty="0" err="1"/>
              <a:t>pricing</a:t>
            </a:r>
            <a:r>
              <a:rPr lang="es-AR" sz="1200" dirty="0"/>
              <a:t>, Congestión de trafico, etc.</a:t>
            </a:r>
            <a:endParaRPr lang="en-US" sz="1200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8ED72FE0-3F1E-4B97-A009-4D70E7C4635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160" r="51477"/>
          <a:stretch/>
        </p:blipFill>
        <p:spPr>
          <a:xfrm>
            <a:off x="6018224" y="2868464"/>
            <a:ext cx="2723440" cy="18734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 · CONSIGNA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Ingeniería de features y balance de clases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Features construidas antes del split · ningún dato de test toca el entrenamiento.</a:t>
            </a:r>
            <a:endParaRPr lang="en-US" sz="900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FAD41402-5BE4-4C2B-9C45-46EB45215E6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7751099" y="775651"/>
            <a:ext cx="1236443" cy="101242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01087F3C-3B71-476A-BCD0-F854413CC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9614" y="1677356"/>
            <a:ext cx="1270900" cy="1012421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38739C48-6A15-42D8-BA49-0870FEED3F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918" y="1143552"/>
            <a:ext cx="3302022" cy="1561896"/>
          </a:xfrm>
          <a:prstGeom prst="rect">
            <a:avLst/>
          </a:prstGeom>
        </p:spPr>
      </p:pic>
      <p:sp>
        <p:nvSpPr>
          <p:cNvPr id="24" name="CuadroTexto 23">
            <a:extLst>
              <a:ext uri="{FF2B5EF4-FFF2-40B4-BE49-F238E27FC236}">
                <a16:creationId xmlns:a16="http://schemas.microsoft.com/office/drawing/2014/main" id="{051A8569-6D44-4809-8C02-40EFED890A81}"/>
              </a:ext>
            </a:extLst>
          </p:cNvPr>
          <p:cNvSpPr txBox="1"/>
          <p:nvPr/>
        </p:nvSpPr>
        <p:spPr>
          <a:xfrm>
            <a:off x="156458" y="834726"/>
            <a:ext cx="180240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kern="0" spc="400" dirty="0">
                <a:solidFill>
                  <a:srgbClr val="E67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DISCRETIZACION</a:t>
            </a:r>
            <a:endParaRPr lang="es-AR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FA809AC9-32E2-4D6C-8D1C-9295FEADB9CB}"/>
              </a:ext>
            </a:extLst>
          </p:cNvPr>
          <p:cNvSpPr txBox="1"/>
          <p:nvPr/>
        </p:nvSpPr>
        <p:spPr>
          <a:xfrm>
            <a:off x="6239407" y="834726"/>
            <a:ext cx="164389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kern="0" spc="400" dirty="0">
                <a:solidFill>
                  <a:srgbClr val="E67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CODIFICACION</a:t>
            </a:r>
            <a:endParaRPr lang="es-AR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BE6FDD97-9E52-4DF4-809C-C80942C856E2}"/>
              </a:ext>
            </a:extLst>
          </p:cNvPr>
          <p:cNvSpPr txBox="1"/>
          <p:nvPr/>
        </p:nvSpPr>
        <p:spPr>
          <a:xfrm>
            <a:off x="136772" y="2819296"/>
            <a:ext cx="21803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kern="0" spc="400" dirty="0">
                <a:solidFill>
                  <a:srgbClr val="E67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ESTANDARIZACION</a:t>
            </a:r>
            <a:endParaRPr lang="es-AR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0302A9CA-E721-4E9E-AF55-7E715B407B83}"/>
              </a:ext>
            </a:extLst>
          </p:cNvPr>
          <p:cNvSpPr txBox="1"/>
          <p:nvPr/>
        </p:nvSpPr>
        <p:spPr>
          <a:xfrm>
            <a:off x="3970879" y="2865164"/>
            <a:ext cx="201598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kern="0" spc="400" dirty="0">
                <a:solidFill>
                  <a:srgbClr val="E67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BALANCEO TARGET</a:t>
            </a:r>
            <a:endParaRPr lang="es-AR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83644F8-555D-4994-96D1-DC688BDA86FD}"/>
              </a:ext>
            </a:extLst>
          </p:cNvPr>
          <p:cNvSpPr txBox="1"/>
          <p:nvPr/>
        </p:nvSpPr>
        <p:spPr>
          <a:xfrm>
            <a:off x="7819714" y="1884981"/>
            <a:ext cx="137508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sz="1200" b="1">
                <a:solidFill>
                  <a:srgbClr val="000000"/>
                </a:solidFill>
                <a:effectLst/>
                <a:latin typeface="Courier New" panose="02070309020205020404" pitchFamily="49" charset="0"/>
              </a:defRPr>
            </a:lvl1pPr>
          </a:lstStyle>
          <a:p>
            <a:r>
              <a:rPr lang="es-AR" sz="800" dirty="0" err="1"/>
              <a:t>One</a:t>
            </a:r>
            <a:r>
              <a:rPr lang="es-AR" sz="800" dirty="0"/>
              <a:t>-Hot:  </a:t>
            </a:r>
          </a:p>
          <a:p>
            <a:r>
              <a:rPr lang="es-AR" sz="800" dirty="0"/>
              <a:t>Dia semana – Genero</a:t>
            </a:r>
          </a:p>
          <a:p>
            <a:r>
              <a:rPr lang="es-ES" sz="800" dirty="0"/>
              <a:t>variables cíclicas: Hora y mes </a:t>
            </a:r>
          </a:p>
          <a:p>
            <a:endParaRPr lang="es-AR" sz="800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EBE2FFFA-EC1F-4CB3-B0B3-CA13B6F67BBB}"/>
              </a:ext>
            </a:extLst>
          </p:cNvPr>
          <p:cNvSpPr txBox="1"/>
          <p:nvPr/>
        </p:nvSpPr>
        <p:spPr>
          <a:xfrm>
            <a:off x="209878" y="3046407"/>
            <a:ext cx="30191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800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StandardScaler</a:t>
            </a:r>
            <a:r>
              <a:rPr lang="es-AR" sz="8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(media):</a:t>
            </a:r>
          </a:p>
          <a:p>
            <a:r>
              <a:rPr lang="es-AR" sz="800" b="1" dirty="0">
                <a:solidFill>
                  <a:srgbClr val="000000"/>
                </a:solidFill>
                <a:latin typeface="Courier New" panose="02070309020205020404" pitchFamily="49" charset="0"/>
              </a:rPr>
              <a:t>Distancia – latitud - </a:t>
            </a:r>
            <a:r>
              <a:rPr lang="es-AR" sz="8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logitud</a:t>
            </a:r>
            <a:endParaRPr lang="es-AR" sz="8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</p:txBody>
      </p:sp>
      <p:pic>
        <p:nvPicPr>
          <p:cNvPr id="35" name="Imagen 34">
            <a:extLst>
              <a:ext uri="{FF2B5EF4-FFF2-40B4-BE49-F238E27FC236}">
                <a16:creationId xmlns:a16="http://schemas.microsoft.com/office/drawing/2014/main" id="{F192C81E-9DFE-4AAA-BBBB-6712FE5CE8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4685" y="1102014"/>
            <a:ext cx="3180093" cy="1751753"/>
          </a:xfrm>
          <a:prstGeom prst="rect">
            <a:avLst/>
          </a:prstGeom>
        </p:spPr>
      </p:pic>
      <p:sp>
        <p:nvSpPr>
          <p:cNvPr id="39" name="CuadroTexto 38">
            <a:extLst>
              <a:ext uri="{FF2B5EF4-FFF2-40B4-BE49-F238E27FC236}">
                <a16:creationId xmlns:a16="http://schemas.microsoft.com/office/drawing/2014/main" id="{6BE8BBA2-2F6F-4E35-917C-EB0C825C2310}"/>
              </a:ext>
            </a:extLst>
          </p:cNvPr>
          <p:cNvSpPr txBox="1"/>
          <p:nvPr/>
        </p:nvSpPr>
        <p:spPr>
          <a:xfrm>
            <a:off x="3768226" y="851751"/>
            <a:ext cx="221863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kern="0" spc="400" dirty="0">
                <a:solidFill>
                  <a:srgbClr val="E67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endParaRPr lang="es-AR" dirty="0"/>
          </a:p>
        </p:txBody>
      </p:sp>
      <p:pic>
        <p:nvPicPr>
          <p:cNvPr id="45" name="Imagen 44">
            <a:extLst>
              <a:ext uri="{FF2B5EF4-FFF2-40B4-BE49-F238E27FC236}">
                <a16:creationId xmlns:a16="http://schemas.microsoft.com/office/drawing/2014/main" id="{78B06BAC-358A-433E-B5EC-E2C6119E55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5954" y="3126327"/>
            <a:ext cx="2628600" cy="1653841"/>
          </a:xfrm>
          <a:prstGeom prst="rect">
            <a:avLst/>
          </a:prstGeom>
        </p:spPr>
      </p:pic>
      <p:pic>
        <p:nvPicPr>
          <p:cNvPr id="47" name="Imagen 46">
            <a:extLst>
              <a:ext uri="{FF2B5EF4-FFF2-40B4-BE49-F238E27FC236}">
                <a16:creationId xmlns:a16="http://schemas.microsoft.com/office/drawing/2014/main" id="{2212DA91-F79C-4BF8-93FE-76E1048022C7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10191"/>
          <a:stretch/>
        </p:blipFill>
        <p:spPr>
          <a:xfrm>
            <a:off x="143913" y="3374201"/>
            <a:ext cx="3761337" cy="1287759"/>
          </a:xfrm>
          <a:prstGeom prst="rect">
            <a:avLst/>
          </a:prstGeom>
        </p:spPr>
      </p:pic>
      <p:sp>
        <p:nvSpPr>
          <p:cNvPr id="43" name="Rectangle 3">
            <a:extLst>
              <a:ext uri="{FF2B5EF4-FFF2-40B4-BE49-F238E27FC236}">
                <a16:creationId xmlns:a16="http://schemas.microsoft.com/office/drawing/2014/main" id="{1CC835C5-A4B6-407C-B965-303ABA99EE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165" y="3190200"/>
            <a:ext cx="2762613" cy="1585049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AR" altLang="es-AR" sz="9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system-ui"/>
              </a:rPr>
              <a:t>NO se aplica rebalanceo artificial</a:t>
            </a:r>
            <a:r>
              <a:rPr kumimoji="0" lang="es-AR" altLang="es-AR" sz="9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system-ui"/>
              </a:rPr>
              <a:t> </a:t>
            </a:r>
            <a:r>
              <a:rPr kumimoji="0" lang="es-AR" altLang="es-AR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(SMOTE / </a:t>
            </a:r>
            <a:r>
              <a:rPr kumimoji="0" lang="es-AR" altLang="es-AR" sz="9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undersampling</a:t>
            </a:r>
            <a:r>
              <a:rPr kumimoji="0" lang="es-AR" altLang="es-AR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/ </a:t>
            </a:r>
            <a:r>
              <a:rPr kumimoji="0" lang="es-AR" altLang="es-AR" sz="9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oversampling</a:t>
            </a:r>
            <a:r>
              <a:rPr kumimoji="0" lang="es-AR" altLang="es-AR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AR" altLang="es-AR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Razones:</a:t>
            </a:r>
            <a:endParaRPr kumimoji="0" lang="es-AR" altLang="es-AR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s-AR" altLang="es-AR" sz="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system-ui"/>
              </a:rPr>
              <a:t>El desbalance es moderado, no severo</a:t>
            </a:r>
            <a:endParaRPr kumimoji="0" lang="es-AR" altLang="es-AR" sz="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system-ui"/>
            </a:endParaRP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s-AR" altLang="es-AR" sz="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system-ui"/>
              </a:rPr>
              <a:t>La distribución de clases refleja la realidad operativa.</a:t>
            </a:r>
            <a:r>
              <a:rPr kumimoji="0" lang="es-AR" altLang="es-AR" sz="8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system-ui"/>
              </a:rPr>
              <a:t> </a:t>
            </a: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s-AR" altLang="es-AR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system-ui"/>
              </a:rPr>
              <a:t>E</a:t>
            </a:r>
            <a:r>
              <a:rPr kumimoji="0" lang="es-AR" altLang="es-AR" sz="8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/>
              </a:rPr>
              <a:t>stratify</a:t>
            </a:r>
            <a:r>
              <a:rPr kumimoji="0" lang="es-AR" altLang="es-AR" sz="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/>
              </a:rPr>
              <a:t>=y</a:t>
            </a:r>
            <a:r>
              <a:rPr kumimoji="0" lang="es-AR" altLang="es-AR" sz="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system-ui"/>
              </a:rPr>
              <a:t> ya resuelve el problema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s-AR" altLang="es-A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ystem-ui"/>
              </a:rPr>
              <a:t>       </a:t>
            </a:r>
            <a:r>
              <a:rPr kumimoji="0" lang="es-AR" altLang="es-AR" sz="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system-ui"/>
              </a:rPr>
              <a:t> </a:t>
            </a:r>
            <a:r>
              <a:rPr kumimoji="0" lang="es-AR" altLang="es-AR" sz="8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system-ui"/>
              </a:rPr>
              <a:t>downstream</a:t>
            </a:r>
            <a:r>
              <a:rPr kumimoji="0" lang="es-AR" altLang="es-AR" sz="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system-ui"/>
              </a:rPr>
              <a:t> más crítico</a:t>
            </a:r>
            <a:endParaRPr kumimoji="0" lang="es-AR" altLang="es-AR" sz="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system-ui"/>
            </a:endParaRP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s-AR" altLang="es-AR" sz="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system-ui"/>
              </a:rPr>
              <a:t>Los modelos candidatos soportan </a:t>
            </a:r>
            <a:r>
              <a:rPr kumimoji="0" lang="es-AR" altLang="es-AR" sz="8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/>
              </a:rPr>
              <a:t>class_weight</a:t>
            </a:r>
            <a:r>
              <a:rPr kumimoji="0" lang="es-AR" altLang="es-AR" sz="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/>
              </a:rPr>
              <a:t>='</a:t>
            </a:r>
            <a:r>
              <a:rPr kumimoji="0" lang="es-AR" altLang="es-AR" sz="8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/>
              </a:rPr>
              <a:t>balanced</a:t>
            </a:r>
            <a:r>
              <a:rPr kumimoji="0" lang="es-AR" altLang="es-AR" sz="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/>
              </a:rPr>
              <a:t>’</a:t>
            </a:r>
            <a:endParaRPr kumimoji="0" lang="es-AR" altLang="es-AR" sz="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system-ui"/>
            </a:endParaRP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s-AR" altLang="es-AR" sz="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system-ui"/>
              </a:rPr>
              <a:t>SMOTE sobre </a:t>
            </a:r>
            <a:r>
              <a:rPr kumimoji="0" lang="es-AR" altLang="es-AR" sz="8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system-ui"/>
              </a:rPr>
              <a:t>features</a:t>
            </a:r>
            <a:r>
              <a:rPr kumimoji="0" lang="es-AR" altLang="es-AR" sz="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system-ui"/>
              </a:rPr>
              <a:t> mixtas (continuas + binarias) requiere variantes específicas</a:t>
            </a:r>
            <a:r>
              <a:rPr kumimoji="0" lang="es-AR" altLang="es-A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.</a:t>
            </a:r>
            <a:endParaRPr kumimoji="0" lang="es-AR" altLang="es-A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ystem-u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AR" altLang="es-AR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REDUCCIÓN DE DIMENSIONALIDAD · CONSIGNA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Selección y extracción de features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Dataset final listo: X_train.csv · X_test.csv · y_train.csv · y_test.csv.</a:t>
            </a:r>
            <a:endParaRPr lang="en-US" sz="900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47943A58-38EB-DA67-8926-5ED5499C9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945" y="1129247"/>
            <a:ext cx="4102161" cy="2478049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ECF9BBF-6E63-B4C3-8F29-075C606868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5620" y="1129247"/>
            <a:ext cx="4282062" cy="2478049"/>
          </a:xfrm>
          <a:prstGeom prst="rect">
            <a:avLst/>
          </a:prstGeom>
        </p:spPr>
      </p:pic>
      <p:sp>
        <p:nvSpPr>
          <p:cNvPr id="14" name="Rectángulo 13">
            <a:extLst>
              <a:ext uri="{FF2B5EF4-FFF2-40B4-BE49-F238E27FC236}">
                <a16:creationId xmlns:a16="http://schemas.microsoft.com/office/drawing/2014/main" id="{AA4408F7-B9E8-AC2B-56E3-2A726170A5CF}"/>
              </a:ext>
            </a:extLst>
          </p:cNvPr>
          <p:cNvSpPr/>
          <p:nvPr/>
        </p:nvSpPr>
        <p:spPr>
          <a:xfrm>
            <a:off x="1085385" y="3794760"/>
            <a:ext cx="6765074" cy="52447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PE" sz="1000" b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El modelo XGBoost y el MI confirma que la variable clave para predecir el tipo de viaje es la </a:t>
            </a:r>
            <a:r>
              <a:rPr lang="es-PE" sz="1000" b="0" dirty="0">
                <a:solidFill>
                  <a:srgbClr val="8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distancia recorrida (distancia_km)</a:t>
            </a:r>
            <a:r>
              <a:rPr lang="es-PE" sz="1000" b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seguida por factores temporales de alto nivel como el indicador de fin de semana.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1038</Words>
  <Application>Microsoft Office PowerPoint</Application>
  <PresentationFormat>Presentación en pantalla (16:9)</PresentationFormat>
  <Paragraphs>110</Paragraphs>
  <Slides>8</Slides>
  <Notes>8</Notes>
  <HiddenSlides>1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7" baseType="lpstr">
      <vt:lpstr>Aptos</vt:lpstr>
      <vt:lpstr>Arial</vt:lpstr>
      <vt:lpstr>Calibri</vt:lpstr>
      <vt:lpstr>Courier New</vt:lpstr>
      <vt:lpstr>Georgia</vt:lpstr>
      <vt:lpstr>menlo</vt:lpstr>
      <vt:lpstr>system-ui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EcoBici CABA 2024 · Análisis de Datos</dc:title>
  <dc:subject>PptxGenJS Presentation</dc:subject>
  <dc:creator>Grupo 7 · CEIA FIUBA 1B 2026</dc:creator>
  <cp:lastModifiedBy>Carmen Rodriguez</cp:lastModifiedBy>
  <cp:revision>14</cp:revision>
  <dcterms:created xsi:type="dcterms:W3CDTF">2026-04-17T13:45:24Z</dcterms:created>
  <dcterms:modified xsi:type="dcterms:W3CDTF">2026-04-18T21:19:45Z</dcterms:modified>
</cp:coreProperties>
</file>