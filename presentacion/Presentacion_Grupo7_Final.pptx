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7216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61144-5959-0284-6E62-4E5539B45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51189E-D5E0-7D61-8131-05FDF9E6D9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D735A1-A9BF-6049-A1F5-AE3BFC940A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76E27-EC82-8CD3-C75F-EAFE34C493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1574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PRÁCTICO FINAL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Análisis de Datos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EcoBici CABA 2024 · Del dato crudo al dataset listo para modelar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 de Especialización en Inteligencia Artificial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FIUBA · Cohorte 1B 2026 · Grupo 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 Carmen María Rodríguez Pastrano  ·  Federico Agustín Fernández  ·  Claudio Marcelo Imberlina  ·  María Teresa Mallaupoma León  ·  Matías Guido Bovio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8229600" cy="0"/>
          </a:xfrm>
          <a:prstGeom prst="line">
            <a:avLst/>
          </a:prstGeom>
          <a:noFill/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EXPLORATORIO  ·  CIFRAS CLAVE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2697480" cy="1005840"/>
          </a:xfrm>
          <a:prstGeom prst="rect">
            <a:avLst/>
          </a:prstGeom>
          <a:solidFill>
            <a:srgbClr val="1F2D3D"/>
          </a:solidFill>
          <a:ln w="635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68503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3,56 M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48640" y="41788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VIAJES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965960" y="3703320"/>
            <a:ext cx="109728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17 variables · año 2024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oficial GCBA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91840" y="3611880"/>
            <a:ext cx="2697480" cy="1005840"/>
          </a:xfrm>
          <a:prstGeom prst="rect">
            <a:avLst/>
          </a:prstGeom>
          <a:solidFill>
            <a:srgbClr val="1F2D3D"/>
          </a:solidFill>
          <a:ln w="635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83280" y="368503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383280" y="41788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00600" y="3703320"/>
            <a:ext cx="109728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multiclase: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Corto · Mediano · Largo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3611880"/>
            <a:ext cx="2697480" cy="1005840"/>
          </a:xfrm>
          <a:prstGeom prst="rect">
            <a:avLst/>
          </a:prstGeom>
          <a:solidFill>
            <a:srgbClr val="1F2D3D"/>
          </a:solidFill>
          <a:ln w="635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17920" y="368503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217920" y="41788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635240" y="3703320"/>
            <a:ext cx="109728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· Descripción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· Calidad del dato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7A8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github.com/cimberlina/grupo7-eda-ecobici   ·   Presentación · 22/04/2026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EXPLORATORIO DE DATOS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310896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Hallazgos clave y diagnóstico de calidad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PATRONES TEMPORALES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vespertino único (17–19 h) · caída fin de semana · estacionalidad anual</a:t>
            </a:r>
            <a:endParaRPr lang="en-US" sz="1000" dirty="0"/>
          </a:p>
        </p:txBody>
      </p:sp>
      <p:pic>
        <p:nvPicPr>
          <p:cNvPr id="8" name="Image 0" descr="/sessions/sharp-quirky-brown/mnt/TP Final AdD 2026/TP Final AdD/images_tutorial/fig_panel_temporal_hora_dia_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444752"/>
            <a:ext cx="4114800" cy="1371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709160" y="9144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15 ESTACIONES · ORIGEN / DESTINO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709160" y="1115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Concentración Pareto en microcentro · simetría origen-destino</a:t>
            </a:r>
            <a:endParaRPr lang="en-US" sz="1000" dirty="0"/>
          </a:p>
        </p:txBody>
      </p:sp>
      <p:pic>
        <p:nvPicPr>
          <p:cNvPr id="11" name="Image 1" descr="/sessions/sharp-quirky-brown/mnt/TP Final AdD 2026/TP Final AdD/images_tutorial/fig_top15_estaciones_origen_destin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444752"/>
            <a:ext cx="4114800" cy="1371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0040" y="29260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DISTRIBUCIÓN DE duracion_minutos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320040" y="31272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Asimetría positiva · mediana ≈ 16 min · justifica discretización en 3 clases</a:t>
            </a:r>
            <a:endParaRPr lang="en-US" sz="1000" dirty="0"/>
          </a:p>
        </p:txBody>
      </p:sp>
      <p:pic>
        <p:nvPicPr>
          <p:cNvPr id="14" name="Image 2" descr="/sessions/sharp-quirky-brown/mnt/TP Final AdD 2026/TP Final AdD/images_tutorial/fig_histograma_duracion_minutos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456432"/>
            <a:ext cx="4114800" cy="1371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09160" y="29260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FALTANTES · MCAR / MAR / MNAR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4709160" y="31272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Tipificación por variable · género (MNAR) · fecha_destino (MAR)</a:t>
            </a:r>
            <a:endParaRPr lang="en-US" sz="1000" dirty="0"/>
          </a:p>
        </p:txBody>
      </p:sp>
      <p:pic>
        <p:nvPicPr>
          <p:cNvPr id="17" name="Image 3" descr="/sessions/sharp-quirky-brown/mnt/TP Final AdD 2026/TP Final AdD/images_tutorial/fig_faltantes_MCAR_MAR_MNAR_compos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3456432"/>
            <a:ext cx="4114800" cy="13716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9525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Los cuatro hallazgos justifican replantear el problema como clasificación multiclase · y determinan el pipeline completo · limpieza · feature engineering · reducción de dimensionalidad.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DE52D4-D972-7712-52D2-F09F714B1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8FE15FC-AE71-9AA0-B554-984CA3477425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05B7000-ABD4-952F-D408-405AE20049E5}"/>
              </a:ext>
            </a:extLst>
          </p:cNvPr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258740D-41B1-3F45-8AC1-AD03ED4C575A}"/>
              </a:ext>
            </a:extLst>
          </p:cNvPr>
          <p:cNvSpPr/>
          <p:nvPr/>
        </p:nvSpPr>
        <p:spPr>
          <a:xfrm>
            <a:off x="365760" y="1097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600" normalizeH="0" baseline="0" noProof="0" dirty="0">
                <a:ln>
                  <a:noFill/>
                </a:ln>
                <a:solidFill>
                  <a:srgbClr val="E67E2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ANÁLISIS EXPLORATORIO DE DATOS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AD67705-5BA6-184C-843E-C703A58C415B}"/>
              </a:ext>
            </a:extLst>
          </p:cNvPr>
          <p:cNvSpPr/>
          <p:nvPr/>
        </p:nvSpPr>
        <p:spPr>
          <a:xfrm>
            <a:off x="365760" y="310896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Principales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r>
              <a:rPr kumimoji="0" 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aracterística</a:t>
            </a: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 de Dataset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161C479-5E49-47CB-7F3A-ECF1D3DDF211}"/>
              </a:ext>
            </a:extLst>
          </p:cNvPr>
          <p:cNvSpPr/>
          <p:nvPr/>
        </p:nvSpPr>
        <p:spPr>
          <a:xfrm>
            <a:off x="243838" y="1001097"/>
            <a:ext cx="2948432" cy="1187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s-ES" sz="10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 cubre principalmente el corredor céntrico y los barrios de mayor densidad (Palermo, Recoleta, Etc.). La cobertura disminuye hacia los límites de la ciudad.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1000" i="1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r>
              <a:rPr lang="en-US" sz="10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las </a:t>
            </a:r>
            <a:r>
              <a:rPr lang="en-US" sz="1000" i="1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distancias</a:t>
            </a:r>
            <a:r>
              <a:rPr lang="en-US" sz="10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recorridas</a:t>
            </a:r>
            <a:r>
              <a:rPr lang="en-US" sz="10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</a:t>
            </a:r>
            <a:r>
              <a:rPr lang="en-US" sz="1000" i="1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</a:t>
            </a:r>
            <a:r>
              <a:rPr lang="en-US" sz="10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2km (</a:t>
            </a:r>
            <a:r>
              <a:rPr lang="en-US" sz="1000" i="1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acorde</a:t>
            </a:r>
            <a:r>
              <a:rPr lang="en-US" sz="10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000" i="1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recorridos</a:t>
            </a:r>
            <a:r>
              <a:rPr lang="en-US" sz="10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urbanos</a:t>
            </a:r>
            <a:r>
              <a:rPr lang="en-US" sz="10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000" i="1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Descentralizacion</a:t>
            </a:r>
            <a:r>
              <a:rPr lang="en-US" sz="10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i="1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recorridos</a:t>
            </a:r>
            <a:r>
              <a:rPr lang="en-US" sz="10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s-ES" sz="10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matriz del Top 10 captura el 1.86% de la demanda total del sistema.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D5D82CCC-95CC-D901-5F4C-BBEB03FC6136}"/>
              </a:ext>
            </a:extLst>
          </p:cNvPr>
          <p:cNvSpPr/>
          <p:nvPr/>
        </p:nvSpPr>
        <p:spPr>
          <a:xfrm>
            <a:off x="243838" y="809244"/>
            <a:ext cx="61112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400" normalizeH="0" baseline="0" noProof="0" dirty="0">
                <a:ln>
                  <a:noFill/>
                </a:ln>
                <a:solidFill>
                  <a:srgbClr val="E67E22"/>
                </a:solidFill>
                <a:effectLst/>
                <a:uLnTx/>
                <a:uFillTx/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DISTRIBUCIÓ</a:t>
            </a:r>
            <a:r>
              <a:rPr lang="en-US" sz="700" b="1" kern="0" spc="400" dirty="0">
                <a:solidFill>
                  <a:srgbClr val="E67E2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 DE ESTACIONES – MATRIZ ORIGEN DESTINO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EFE964D2-6E67-B0B7-414B-8B91B40BF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2956" y="1022502"/>
            <a:ext cx="2227220" cy="2109692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1DC6B7C1-3574-3BA0-54CC-D5D43D209A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0176" y="777240"/>
            <a:ext cx="3172339" cy="2361103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D182477E-D500-91E5-E6A8-E34E3F0A69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524" y="2112377"/>
            <a:ext cx="2948432" cy="1019817"/>
          </a:xfrm>
          <a:prstGeom prst="rect">
            <a:avLst/>
          </a:prstGeom>
        </p:spPr>
      </p:pic>
      <p:sp>
        <p:nvSpPr>
          <p:cNvPr id="26" name="Text 8">
            <a:extLst>
              <a:ext uri="{FF2B5EF4-FFF2-40B4-BE49-F238E27FC236}">
                <a16:creationId xmlns:a16="http://schemas.microsoft.com/office/drawing/2014/main" id="{7387B89E-551B-E587-CBEA-6D539E380C0D}"/>
              </a:ext>
            </a:extLst>
          </p:cNvPr>
          <p:cNvSpPr/>
          <p:nvPr/>
        </p:nvSpPr>
        <p:spPr>
          <a:xfrm>
            <a:off x="243837" y="3144001"/>
            <a:ext cx="61112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1" kern="0" spc="400" dirty="0">
                <a:solidFill>
                  <a:srgbClr val="E67E2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DURACIÓN DE VIAJES-TARFARIO VIGENTE 2024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330F680F-BEC8-A3F9-3E4A-31724441CA61}"/>
              </a:ext>
            </a:extLst>
          </p:cNvPr>
          <p:cNvSpPr/>
          <p:nvPr/>
        </p:nvSpPr>
        <p:spPr>
          <a:xfrm>
            <a:off x="243838" y="3372601"/>
            <a:ext cx="4156282" cy="1187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s-AR" sz="10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duración con asimetría positivo.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s-AR" sz="10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viajes día de semana &gt; 30min y los viajes de fin de semana se abonaban.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s-AR" sz="10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cantidad de viajes en días hábiles pero de menor recorrido que los del fin de semana.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s-AR" sz="10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dispersión en la duración de los viajes en horas de la mañana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s-AR" sz="1000" i="1" dirty="0">
              <a:solidFill>
                <a:srgbClr val="2C3E5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s-AR" sz="1000" i="1" dirty="0">
              <a:solidFill>
                <a:srgbClr val="2C3E5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s-ES" sz="1000" i="1" dirty="0">
              <a:solidFill>
                <a:srgbClr val="2C3E5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56DF4123-1E93-D9D1-00B9-18FD77F10C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2518" y="3170347"/>
            <a:ext cx="4731482" cy="1973154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92E8760D-F521-4129-043C-CFF35781AB6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50000"/>
          <a:stretch>
            <a:fillRect/>
          </a:stretch>
        </p:blipFill>
        <p:spPr>
          <a:xfrm>
            <a:off x="5383028" y="4672177"/>
            <a:ext cx="1300910" cy="208065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C9C9C296-82EB-414E-0F51-A9E2E98B0EE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66514"/>
          <a:stretch>
            <a:fillRect/>
          </a:stretch>
        </p:blipFill>
        <p:spPr>
          <a:xfrm>
            <a:off x="7517419" y="4743568"/>
            <a:ext cx="1431001" cy="153281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7625F3CE-388C-8E5A-2644-B88343DDDF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" y="4164478"/>
            <a:ext cx="2328990" cy="979023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701352A9-A318-636C-A4DA-816C2DB433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2665" y="4138255"/>
            <a:ext cx="905001" cy="252447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19D64E19-B9DA-4580-BD78-26B025F87D3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94750" y="4175213"/>
            <a:ext cx="1717767" cy="96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039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PREPROCESAMIENTO · CONSIGNA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310896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Preprocesamiento y limpieza del dataset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3657600"/>
          </a:xfrm>
          <a:prstGeom prst="rect">
            <a:avLst/>
          </a:prstGeom>
          <a:solidFill>
            <a:srgbClr val="F5EEE0"/>
          </a:solidFill>
          <a:ln w="6350">
            <a:solidFill>
              <a:srgbClr val="E67E2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EN CONSTRUCCIÓN · INTEGRANTE 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sugerido: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7680960" cy="2286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limpieza por dominio (30 s &lt; duración &lt; 24 h) vs IQR/Winsor evaluados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de faltantes: eliminación de MNAR (género) · decisión sobre fecha_destino (MAR · leakage)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70/30 estratificado (stratify=y · random_state=42)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Escalado con StandardScaler · fit solo en train para evitar data leakage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 comparativo antes/después del filtro como evidencia visual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9525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Dataset limpio y splitado listo para ingeniería de features.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 · CONSIGNA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310896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Ingeniería de features y balance de clases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3657600"/>
          </a:xfrm>
          <a:prstGeom prst="rect">
            <a:avLst/>
          </a:prstGeom>
          <a:solidFill>
            <a:srgbClr val="F5EEE0"/>
          </a:solidFill>
          <a:ln w="6350">
            <a:solidFill>
              <a:srgbClr val="E67E2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EN CONSTRUCCIÓN · INTEGRANTE 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sugerido: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7680960" cy="2286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cíclico de hora y mes (sin/cos) · justificación topológica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Haversine como síntesis geométrica de 4 coordenadas → 1 escalar interpretable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categórico: Label (modelo_bicicleta) · One-Hot (género · día de semana)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Discretización del target (tipo_viaje) · cortes 10 / 30 min con justificación operativa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de clases (26 / 56 / 18 %) · decisión de no rebalancear (stratify + class_weight downstream)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9525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Features construidas antes del split · ningún dato de test toca el entrenamiento.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REDUCCIÓN DE DIMENSIONALIDAD · CONSIGNA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310896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Selección y extracción de features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3657600"/>
          </a:xfrm>
          <a:prstGeom prst="rect">
            <a:avLst/>
          </a:prstGeom>
          <a:solidFill>
            <a:srgbClr val="F5EEE0"/>
          </a:solidFill>
          <a:ln w="6350">
            <a:solidFill>
              <a:srgbClr val="E67E2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9525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Dataset final listo: X_train.csv · X_test.csv · y_train.csv · y_test.csv.</a:t>
            </a:r>
            <a:endParaRPr lang="en-US" sz="9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47943A58-38EB-DA67-8926-5ED5499C9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45" y="1129247"/>
            <a:ext cx="4102161" cy="247804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AECF9BBF-6E63-B4C3-8F29-075C606868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620" y="1129247"/>
            <a:ext cx="4282062" cy="2478049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AA4408F7-B9E8-AC2B-56E3-2A726170A5CF}"/>
              </a:ext>
            </a:extLst>
          </p:cNvPr>
          <p:cNvSpPr/>
          <p:nvPr/>
        </p:nvSpPr>
        <p:spPr>
          <a:xfrm>
            <a:off x="1085385" y="3794760"/>
            <a:ext cx="6765074" cy="52447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0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 modelo XGBoost y el MI confirma que la variable clave para predecir el tipo de viaje es la </a:t>
            </a:r>
            <a:r>
              <a:rPr lang="es-PE" sz="1000" b="0" dirty="0"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distancia recorrida (distancia_km)</a:t>
            </a:r>
            <a:r>
              <a:rPr lang="es-PE" sz="1000" b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seguida por factores temporales de alto nivel como el indicador de fin de semana.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· EQUIPO COMPLETO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310896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 y próximos pasos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3657600"/>
          </a:xfrm>
          <a:prstGeom prst="rect">
            <a:avLst/>
          </a:prstGeom>
          <a:solidFill>
            <a:srgbClr val="F5EEE0"/>
          </a:solidFill>
          <a:ln w="6350">
            <a:solidFill>
              <a:srgbClr val="E67E2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EN CONSTRUCCIÓN · CIERRE DEL GRUPO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sugerido: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7680960" cy="2286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destacados: pico único vespertino · Pareto geográfico · clase Mediano mayoritaria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del dato manejable: ~8,4 % de filas descartadas (clicks accidentales + bicis no devueltas)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pasos: entrenar y comparar LogReg · Random Forest · XGBoost con class_weight=balanced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principal: F1-score macro para priorizar la clase minoritaria Largo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Repositorio: github.com/cimberlina/grupo7-eda-ecobici  ·  Gracias · abierto a preguntas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9525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7 · CEIA FIUBA · 1B 2026  ·  github.com/cimberlina/grupo7-eda-ecobici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775</Words>
  <Application>Microsoft Macintosh PowerPoint</Application>
  <PresentationFormat>Presentación en pantalla (16:9)</PresentationFormat>
  <Paragraphs>84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Aptos</vt:lpstr>
      <vt:lpstr>Arial</vt:lpstr>
      <vt:lpstr>Calibri</vt:lpstr>
      <vt:lpstr>Georgia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EcoBici CABA 2024 · Análisis de Datos</dc:title>
  <dc:subject>PptxGenJS Presentation</dc:subject>
  <dc:creator>Grupo 7 · CEIA FIUBA 1B 2026</dc:creator>
  <cp:lastModifiedBy>María Teresa Mallaupoma León</cp:lastModifiedBy>
  <cp:revision>3</cp:revision>
  <dcterms:created xsi:type="dcterms:W3CDTF">2026-04-17T13:45:24Z</dcterms:created>
  <dcterms:modified xsi:type="dcterms:W3CDTF">2026-04-18T03:36:25Z</dcterms:modified>
</cp:coreProperties>
</file>